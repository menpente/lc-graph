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SaaS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  (2026)</c:v>
                  </c:pt>
                  <c:pt idx="1">
                    <c:v>Año 2  (2027)</c:v>
                  </c:pt>
                  <c:pt idx="2">
                    <c:v>Año 3  (2028)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</c:v>
                </c:pt>
                <c:pt idx="1">
                  <c:v>330</c:v>
                </c:pt>
                <c:pt idx="2">
                  <c:v>1100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API</c:v>
                </c:pt>
              </c:strCache>
            </c:strRef>
          </c:tx>
          <c:spPr>
            <a:solidFill>
              <a:srgbClr val="1A56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  (2026)</c:v>
                  </c:pt>
                  <c:pt idx="1">
                    <c:v>Año 2  (2027)</c:v>
                  </c:pt>
                  <c:pt idx="2">
                    <c:v>Año 3  (2028)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</c:v>
                </c:pt>
                <c:pt idx="1">
                  <c:v>180</c:v>
                </c:pt>
                <c:pt idx="2">
                  <c:v>600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Consultoría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  (2026)</c:v>
                  </c:pt>
                  <c:pt idx="1">
                    <c:v>Año 2  (2027)</c:v>
                  </c:pt>
                  <c:pt idx="2">
                    <c:v>Año 3  (2028)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22</c:v>
                </c:pt>
                <c:pt idx="1">
                  <c:v>90</c:v>
                </c:pt>
                <c:pt idx="2">
                  <c:v>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-914400"/>
            <a:ext cx="3657600" cy="3657600"/>
          </a:xfrm>
          <a:prstGeom prst="ellipse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-274320"/>
            <a:ext cx="2194560" cy="2194560"/>
          </a:xfrm>
          <a:prstGeom prst="ellipse">
            <a:avLst/>
          </a:prstGeom>
          <a:solidFill>
            <a:srgbClr val="06B6D4">
              <a:alpha val="12000"/>
            </a:srgbClr>
          </a:solidFill>
          <a:ln w="12700">
            <a:solidFill>
              <a:srgbClr val="06B6D4">
                <a:alpha val="12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88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DÍAS, CDTI · MARZO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57276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lc-graph: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210312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que hace la administración comprensible para todos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2286000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1272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multi-agente · 41 criterios de lenguaje claro · Modelos IA europeos soberanos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ciudadanos no comprenden los documentos administrativos y ninguna herramienta lo mide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8503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 actual vs. realidad necesaria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3886200" cy="34747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7043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HOY — Sin solución automatizada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170432"/>
            <a:ext cx="38862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170432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 lc-graph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09344"/>
            <a:ext cx="3886200" cy="676656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09344"/>
            <a:ext cx="50292" cy="6766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" y="1664208"/>
            <a:ext cx="3685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manual: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lingüistas revisan documentos uno a uno. Semanas de trabajo, insostenible a escala.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368296"/>
            <a:ext cx="3886200" cy="676656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368296"/>
            <a:ext cx="50292" cy="6766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" y="2423160"/>
            <a:ext cx="3685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criterios objetivos: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 guías de lenguaje claro existen pero nadie las aplica de forma sistemática y medible.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127248"/>
            <a:ext cx="3886200" cy="676656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3127248"/>
            <a:ext cx="50292" cy="6766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" y="3182112"/>
            <a:ext cx="3685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trazabilidad: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ningún organismo mide la evolución de su calidad comunicativa ni rinde cuentas.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3886200"/>
            <a:ext cx="3886200" cy="676656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886200"/>
            <a:ext cx="50292" cy="6766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" y="3941064"/>
            <a:ext cx="3685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Big Tech: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 soluciones IA genéricas no son adaptadas al contexto administrativo español.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1609344"/>
            <a:ext cx="3886200" cy="676656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1609344"/>
            <a:ext cx="50292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74336" y="1664208"/>
            <a:ext cx="3685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en segundos: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41 criterios auditados automáticamente, sin intervención humana.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46320" y="2368296"/>
            <a:ext cx="3886200" cy="676656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46320" y="2368296"/>
            <a:ext cx="50292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74336" y="2423160"/>
            <a:ext cx="3685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normativo integrado: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basado en las guías del MAP y estándares europeos de lenguaje claro.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46320" y="3127248"/>
            <a:ext cx="3886200" cy="676656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46320" y="3127248"/>
            <a:ext cx="50292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4336" y="3182112"/>
            <a:ext cx="3685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y dashboards: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KPIs objetivos por organismo, tipo de documento y período.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3886200" cy="676656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886200"/>
            <a:ext cx="50292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74336" y="3941064"/>
            <a:ext cx="3685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soberana europea: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compatible con ALIA (BSC, España), Mistral y Llama — cero dependencia de Big Tech.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498848" y="1170432"/>
            <a:ext cx="73152" cy="39319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europeo de calidad documental en la administración pública supera los €500M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1097280"/>
            <a:ext cx="3840480" cy="384048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85316"/>
            <a:ext cx="384048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345436"/>
            <a:ext cx="3840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€500M+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417320" y="1691640"/>
            <a:ext cx="2651760" cy="2651760"/>
          </a:xfrm>
          <a:prstGeom prst="ellipse">
            <a:avLst/>
          </a:prstGeom>
          <a:solidFill>
            <a:srgbClr val="1A56D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17320" y="1890522"/>
            <a:ext cx="2651760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17320" y="2553462"/>
            <a:ext cx="265176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€80M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93392" y="2267712"/>
            <a:ext cx="1499616" cy="1499616"/>
          </a:xfrm>
          <a:prstGeom prst="ellipse">
            <a:avLst/>
          </a:prstGeom>
          <a:solidFill>
            <a:srgbClr val="06B6D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93392" y="2380183"/>
            <a:ext cx="1499616" cy="412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93392" y="2755087"/>
            <a:ext cx="1499616" cy="4498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€8M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60720" y="1188720"/>
            <a:ext cx="5029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1188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— €500M+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97880" y="14630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total europeo de herramientas de calidad y accesibilidad documental para la administración pública. Impulsado por la Directiva UE de Accesibilidad y la regulación de lenguaje claro.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0" y="2423160"/>
            <a:ext cx="50292" cy="10058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— €80M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97880" y="2697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accesible: España, Portugal y administraciones hispanoamericanas. Incluye organismos nacionales, autonómicos y locales con presupuesto de digitalización activo.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60720" y="3657600"/>
            <a:ext cx="50292" cy="10058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97880" y="3657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— €8M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97880" y="39319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capturableen 3 años: Administración General del Estado + 5 Comunidades Autónomas pioneras. Equivale a ~40 contratos de implantación + licencias SaaS.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estimaciones propias basadas en datos públicos de digitalización de la AGE (2025) y mercado GovTech europeo.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de 7 agentes IA en paralelo evalúa 41 criterios de lenguaje claro en segundos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3017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70432"/>
            <a:ext cx="54864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Velocidad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151790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segundos para evaluación completa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2039112"/>
            <a:ext cx="3017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039112"/>
            <a:ext cx="54864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03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41 criterios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3865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secciones normativas del MAP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907792"/>
            <a:ext cx="3017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907792"/>
            <a:ext cx="54864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71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LLM-agnóstico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32552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ALIA, Mistral, Llama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3776472"/>
            <a:ext cx="30175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776472"/>
            <a:ext cx="54864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API-ready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412394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MCP server integrable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749040" y="1170432"/>
            <a:ext cx="507492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86200" y="1170432"/>
            <a:ext cx="4892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SA-0  ·  Clasificador  —  identifica tipología documental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749040" y="1627632"/>
            <a:ext cx="5074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fan-out paralelo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950208" y="1737360"/>
            <a:ext cx="36576" cy="2231136"/>
          </a:xfrm>
          <a:prstGeom prst="rect">
            <a:avLst/>
          </a:prstGeom>
          <a:solidFill>
            <a:srgbClr val="06B6D4">
              <a:alpha val="6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96512" y="1755648"/>
            <a:ext cx="47274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51376" y="175564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09160" y="17556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la localización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46720" y="1755648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ítems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096512" y="2194560"/>
            <a:ext cx="47274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51376" y="21945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0916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la comprensión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46720" y="2194560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ítems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096512" y="2633472"/>
            <a:ext cx="47274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51376" y="26334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09160" y="26334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 y humaniza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046720" y="263347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ítems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096512" y="3072384"/>
            <a:ext cx="47274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51376" y="3072384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palabras sencillas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046720" y="3072384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ítems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096512" y="3511296"/>
            <a:ext cx="472744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51376" y="35112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SA-5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709160" y="351129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de decisiones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46720" y="3511296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ítems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749040" y="3968496"/>
            <a:ext cx="5074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fan-in · scoring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749040" y="4187952"/>
            <a:ext cx="2468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40480" y="418795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SA-6a  Calculador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840480" y="4389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puro · sin LLM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217920" y="4187952"/>
            <a:ext cx="182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6355080" y="4187952"/>
            <a:ext cx="2468880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46520" y="418795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SA-6b  Sintetizador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46520" y="4389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narrativo + puntuaciones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 es la única solución que combina automatización, trazabilidad y soberanía IA europea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48056" y="1179576"/>
            <a:ext cx="4114800" cy="1600200"/>
          </a:xfrm>
          <a:prstGeom prst="rect">
            <a:avLst/>
          </a:prstGeom>
          <a:solidFill>
            <a:srgbClr val="CBD5E1">
              <a:alpha val="4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143000"/>
            <a:ext cx="411480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3444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Primera solución 100% automatizada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581912"/>
            <a:ext cx="3886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herramienta existente aplica los 41 criterios del MAP de forma automática. El salto de semanas a segundos es disruptivo para cualquier administración.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487168"/>
            <a:ext cx="1005840" cy="182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8716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837176" y="1179576"/>
            <a:ext cx="4114800" cy="1600200"/>
          </a:xfrm>
          <a:prstGeom prst="rect">
            <a:avLst/>
          </a:prstGeom>
          <a:solidFill>
            <a:srgbClr val="CBD5E1">
              <a:alpha val="4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0" y="1143000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1143000"/>
            <a:ext cx="411480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123444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🇪🇺  Soberanía IA sin sacrificar calidad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1581912"/>
            <a:ext cx="3886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LLM-agnóstica: cambiar de Claude a ALIA (BSC) o Mistral requiere una línea de código. Primero en cumplir futuros requisitos de la AI Act europea.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937760" y="2487168"/>
            <a:ext cx="1005840" cy="182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248716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Soberanía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48056" y="2962656"/>
            <a:ext cx="4114800" cy="1600200"/>
          </a:xfrm>
          <a:prstGeom prst="rect">
            <a:avLst/>
          </a:prstGeom>
          <a:solidFill>
            <a:srgbClr val="CBD5E1">
              <a:alpha val="4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2926080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411480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1752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 Marco normativo integrado, no genérico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3364992"/>
            <a:ext cx="3886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criterios no son inventados: provienen de las guías oficiales del MAP y los estándares europeos de Plain Language. Auditabilidad jurídica real.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270248"/>
            <a:ext cx="1005840" cy="182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27024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37176" y="2962656"/>
            <a:ext cx="4114800" cy="1600200"/>
          </a:xfrm>
          <a:prstGeom prst="rect">
            <a:avLst/>
          </a:prstGeom>
          <a:solidFill>
            <a:srgbClr val="CBD5E1">
              <a:alpha val="45000"/>
            </a:srgbClr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0600" y="2926080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2926080"/>
            <a:ext cx="411480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301752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Plataforma abierta y extensible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37760" y="3364992"/>
            <a:ext cx="3886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source, API-first y compatible con MCP. Se integra en Notific@, sedes electrónicas y cualquier gestor documental existente. Sin vendor lock-in.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937760" y="4270248"/>
            <a:ext cx="1005840" cy="182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427024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competidor combina evaluación automática, criterios normativos y modelos europeos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2377440" cy="347472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115568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88920" y="1115568"/>
            <a:ext cx="1463040" cy="347472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62072" y="1115568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115568"/>
            <a:ext cx="1463040" cy="347472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70832" y="1115568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INFLESZ / Flesch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06440" y="1115568"/>
            <a:ext cx="1463040" cy="347472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79592" y="1115568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genérico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0" y="1115568"/>
            <a:ext cx="1463040" cy="347472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88352" y="1115568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1463040"/>
            <a:ext cx="23774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1463040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automatizada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88920" y="1463040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62072" y="1463040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1463040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1463040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06440" y="1463040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79592" y="1463040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0" y="1463040"/>
            <a:ext cx="146304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88352" y="1463040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1810512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1810512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criterios normativos MAP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88920" y="1810512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62072" y="1810512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297680" y="1810512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1810512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06440" y="1810512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79592" y="1810512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315200" y="1810512"/>
            <a:ext cx="14630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88352" y="1810512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2157984"/>
            <a:ext cx="23774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2157984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soberana europea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88920" y="2157984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62072" y="2157984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297680" y="2157984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70832" y="2157984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806440" y="2157984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79592" y="2157984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315200" y="2157984"/>
            <a:ext cx="146304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88352" y="2157984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2505456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8912" y="2505456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integración directa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788920" y="2505456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62072" y="2505456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297680" y="2505456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70832" y="2505456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806440" y="2505456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9592" y="2505456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7315200" y="2505456"/>
            <a:ext cx="14630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88352" y="2505456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65760" y="2852928"/>
            <a:ext cx="23774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8912" y="2852928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y auditoría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2788920" y="2852928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62072" y="2852928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297680" y="2852928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70832" y="2852928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806440" y="2852928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879592" y="2852928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7315200" y="2852928"/>
            <a:ext cx="146304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88352" y="2852928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365760" y="3200400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38912" y="3200400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Puntuación por sección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788920" y="3200400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862072" y="3200400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297680" y="3200400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70832" y="3200400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5806440" y="3200400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879592" y="3200400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7315200" y="3200400"/>
            <a:ext cx="14630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388352" y="3200400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365760" y="3547872"/>
            <a:ext cx="23774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8912" y="3547872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evaluación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788920" y="3547872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862072" y="3547872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297680" y="3547872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3547872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Segundos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5806440" y="3547872"/>
            <a:ext cx="146304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879592" y="3547872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Minutos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7315200" y="3547872"/>
            <a:ext cx="146304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88352" y="3547872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seg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365760" y="3895344"/>
            <a:ext cx="2377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" y="3895344"/>
            <a:ext cx="22311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2788920" y="3895344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62072" y="3895344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4297680" y="3895344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70832" y="3895344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5806440" y="3895344"/>
            <a:ext cx="14630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79592" y="3895344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7315200" y="3895344"/>
            <a:ext cx="14630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88352" y="3895344"/>
            <a:ext cx="1316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95" name="Text 93"/>
          <p:cNvSpPr/>
          <p:nvPr/>
        </p:nvSpPr>
        <p:spPr>
          <a:xfrm>
            <a:off x="365760" y="475488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Completo  ◐ Parcial  ○ Ausente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fases: piloto público → escalado autonómico → expansión europea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740664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89888" y="2084832"/>
            <a:ext cx="694944" cy="512064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89888" y="2084832"/>
            <a:ext cx="6949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44952" y="2084832"/>
            <a:ext cx="3383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1170432"/>
            <a:ext cx="2468880" cy="8046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" y="1170432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público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" y="1536192"/>
            <a:ext cx="2249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" y="2889504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788920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organismo AGE (concurso público)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" y="336499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264408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técnica + ajuste de prompts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" y="3840480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39896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de resultados y caso de éxito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" y="4315968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215384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mínimo €75K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70248" y="2084832"/>
            <a:ext cx="694944" cy="512064"/>
          </a:xfrm>
          <a:prstGeom prst="ellipse">
            <a:avLst/>
          </a:prstGeom>
          <a:solidFill>
            <a:srgbClr val="1A56D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70248" y="2084832"/>
            <a:ext cx="6949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25312" y="2084832"/>
            <a:ext cx="3383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383280" y="1170432"/>
            <a:ext cx="2468880" cy="80467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93008" y="1170432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autonómica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93008" y="1536192"/>
            <a:ext cx="2249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93008" y="2889504"/>
            <a:ext cx="146304" cy="146304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3320" y="2788920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Comunidades Autónomas pioneras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93008" y="3364992"/>
            <a:ext cx="146304" cy="146304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03320" y="3264408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plataformas regionales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93008" y="3840480"/>
            <a:ext cx="146304" cy="146304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03320" y="3739896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SaaS + API tier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93008" y="4315968"/>
            <a:ext cx="146304" cy="146304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4215384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€600K ARR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50608" y="2084832"/>
            <a:ext cx="694944" cy="512064"/>
          </a:xfrm>
          <a:prstGeom prst="ellipse">
            <a:avLst/>
          </a:prstGeom>
          <a:solidFill>
            <a:srgbClr val="06B6D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50608" y="2084832"/>
            <a:ext cx="6949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263640" y="1170432"/>
            <a:ext cx="2468880" cy="8046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3368" y="1170432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europea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373368" y="1536192"/>
            <a:ext cx="2249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2028+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73368" y="2889504"/>
            <a:ext cx="146304" cy="14630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0" y="2788920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Portugal, Francia y LatAm hispano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373368" y="3364992"/>
            <a:ext cx="146304" cy="14630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0" y="3264408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ALIA / Mistral en corpus 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73368" y="3840480"/>
            <a:ext cx="146304" cy="14630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0" y="3739896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 con GovTech europeos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373368" y="4315968"/>
            <a:ext cx="146304" cy="14630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83680" y="4215384"/>
            <a:ext cx="20848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€2M ARR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fuentes de ingresos recurrentes: SaaS, API y consultoría de implantación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260604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81328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Licencia por organismo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103120"/>
            <a:ext cx="260604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21031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€2.500/mes por organismo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1208" y="2670048"/>
            <a:ext cx="82296" cy="822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5420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ilimitada de documentos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1208" y="3072384"/>
            <a:ext cx="82296" cy="822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9443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cumplimiento y evolución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1208" y="3474720"/>
            <a:ext cx="82296" cy="822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34670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y actualizaciones incluidas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1208" y="3877056"/>
            <a:ext cx="82296" cy="822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anuales o plurianuales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1208" y="4645152"/>
            <a:ext cx="1280160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4645152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del revenue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46120" y="1143000"/>
            <a:ext cx="2606040" cy="91440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17043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02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83280" y="1481328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Pay-per-use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103120"/>
            <a:ext cx="260604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1031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€0,12 por documento evaluado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55848" y="2670048"/>
            <a:ext cx="82296" cy="822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3008" y="25420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directa en sistemas existentes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355848" y="3072384"/>
            <a:ext cx="82296" cy="822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93008" y="29443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contrato mínimo — escala automática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55848" y="3474720"/>
            <a:ext cx="82296" cy="822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93008" y="334670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grandes volúmenes puntuales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55848" y="3877056"/>
            <a:ext cx="82296" cy="822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93008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mensual automatizada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55848" y="4645152"/>
            <a:ext cx="1280160" cy="201168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5848" y="4645152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del revenue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080760" y="1143000"/>
            <a:ext cx="2606040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17043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217920" y="1481328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· Implantación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80760" y="2103120"/>
            <a:ext cx="260604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0488" y="21031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desde €15.000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190488" y="2670048"/>
            <a:ext cx="82296" cy="8229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25420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inicial del corpus documental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190488" y="3072384"/>
            <a:ext cx="82296" cy="8229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27648" y="29443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adaptación del pipeline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90488" y="3474720"/>
            <a:ext cx="82296" cy="8229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27648" y="334670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de equipos técnicos internos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90488" y="3877056"/>
            <a:ext cx="82296" cy="8229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27648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ejecutivos y presentaciones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90488" y="4645152"/>
            <a:ext cx="1280160" cy="20116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90488" y="4645152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del revenue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equipo multidisciplinar con experiencia en IA, lenguaje administrativo y sector público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969264" y="1170432"/>
            <a:ext cx="804672" cy="804672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1170432"/>
            <a:ext cx="8046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206654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Apellido]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1463040" cy="21945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3774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· Fundador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84632" y="2907792"/>
            <a:ext cx="82296" cy="822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274320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 en política pública y digitalización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4632" y="3419856"/>
            <a:ext cx="82296" cy="822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3255264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años en proyectos de modernización AGE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4632" y="3931920"/>
            <a:ext cx="82296" cy="822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376732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[Universidad / organismo anterior]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145536" y="1170432"/>
            <a:ext cx="804672" cy="804672"/>
          </a:xfrm>
          <a:prstGeom prst="ellipse">
            <a:avLst/>
          </a:prstGeom>
          <a:solidFill>
            <a:srgbClr val="1A56D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45536" y="1170432"/>
            <a:ext cx="8046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587752" y="206654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Apellido]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16352" y="2377440"/>
            <a:ext cx="1463040" cy="21945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16352" y="23774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· Arquitecto IA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660904" y="2907792"/>
            <a:ext cx="82296" cy="822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88920" y="274320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 en NLP y arquitecturas LLM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60904" y="3419856"/>
            <a:ext cx="82296" cy="822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3255264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en LangGraph y sistemas multi-agente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660904" y="3931920"/>
            <a:ext cx="82296" cy="82296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88920" y="376732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[Universidad / empresa anterior]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321808" y="1170432"/>
            <a:ext cx="804672" cy="804672"/>
          </a:xfrm>
          <a:prstGeom prst="ellipse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21808" y="1170432"/>
            <a:ext cx="8046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764024" y="206654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Apellido]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92624" y="2377440"/>
            <a:ext cx="1463040" cy="2194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92624" y="23774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Experta Lenguaje Claro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37176" y="2907792"/>
            <a:ext cx="82296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65192" y="274320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Lingüista especialista en lenguaje administrativo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37176" y="3419856"/>
            <a:ext cx="82296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65192" y="3255264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Co-autora de guías de lenguaje claro en España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37176" y="3931920"/>
            <a:ext cx="82296" cy="8229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65192" y="376732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[Organismo / publicación académica]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498080" y="1170432"/>
            <a:ext cx="804672" cy="804672"/>
          </a:xfrm>
          <a:prstGeom prst="ellipse">
            <a:avLst/>
          </a:prstGeom>
          <a:solidFill>
            <a:srgbClr val="F973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8080" y="1170432"/>
            <a:ext cx="8046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940296" y="206654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Apellido]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68896" y="2377440"/>
            <a:ext cx="1463040" cy="2194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68896" y="23774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Comercial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13448" y="2907792"/>
            <a:ext cx="82296" cy="8229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41464" y="2743200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años en ventas GovTech y sector público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013448" y="3419856"/>
            <a:ext cx="82296" cy="8229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41464" y="3255264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contactos en CCAA y AGE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013448" y="3931920"/>
            <a:ext cx="82296" cy="8229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41464" y="3767328"/>
            <a:ext cx="1691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[Empresa anterior]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Proyección: de €150K en Año 1 a €2M en Año 3, con breakeven en el Año 2</a:t>
            </a:r>
            <a:endParaRPr lang="en-US" sz="17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53035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989320" y="1261872"/>
            <a:ext cx="2834640" cy="10058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89320" y="1261872"/>
            <a:ext cx="54864" cy="10058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72200" y="1307592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€150K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72200" y="1810512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Año 1 ·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72200" y="201168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pilotos AGE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989320" y="2496312"/>
            <a:ext cx="2834640" cy="10058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9320" y="2496312"/>
            <a:ext cx="54864" cy="10058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72200" y="2542032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€600K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172200" y="3044952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Año 2 · 2027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72200" y="32461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alcanzado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989320" y="3730752"/>
            <a:ext cx="2834640" cy="10058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89320" y="3730752"/>
            <a:ext cx="54864" cy="10058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72200" y="3776472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€2M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6172200" y="4279392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Año 3 · 2028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172200" y="448056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CCAA + expansión europea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indicativa — estimación propia. Supuestos: contratos AGE €75K/año; SaaS CCAA €30K/año; API €0,12/doc.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en 4 hitos: MVP → Piloto → Escala → Expansión UE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8046720" cy="54864"/>
          </a:xfrm>
          <a:prstGeom prst="rect">
            <a:avLst/>
          </a:prstGeom>
          <a:solidFill>
            <a:srgbClr val="06B6D4">
              <a:alpha val="5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3292" y="2377440"/>
            <a:ext cx="585216" cy="585216"/>
          </a:xfrm>
          <a:prstGeom prst="ellipse">
            <a:avLst/>
          </a:prstGeom>
          <a:solidFill>
            <a:srgbClr val="22C55E"/>
          </a:solidFill>
          <a:ln w="25400">
            <a:solidFill>
              <a:srgbClr val="0D1F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3292" y="237744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810512"/>
            <a:ext cx="1874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Q1–Q2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91540" y="2103120"/>
            <a:ext cx="1188720" cy="201168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1540" y="210312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Completado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2990088"/>
            <a:ext cx="109728" cy="10972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852928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LangGraph operativo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109728" cy="10972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291840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criterios implementados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3867912"/>
            <a:ext cx="109728" cy="10972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730752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pública en producción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306824"/>
            <a:ext cx="109728" cy="10972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" y="4169664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 con LangSmith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14700" y="2377440"/>
            <a:ext cx="585216" cy="585216"/>
          </a:xfrm>
          <a:prstGeom prst="ellipse">
            <a:avLst/>
          </a:prstGeom>
          <a:solidFill>
            <a:srgbClr val="F59E0B"/>
          </a:solidFill>
          <a:ln w="25400">
            <a:solidFill>
              <a:srgbClr val="0D1F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4700" y="237744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70048" y="1508760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670048" y="1810512"/>
            <a:ext cx="1874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Q3–Q4 2026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2948" y="2103120"/>
            <a:ext cx="1188720" cy="201168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12948" y="210312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progreso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61488" y="2990088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16936" y="2852928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piloto con AGE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61488" y="3429000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16936" y="3291840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en corpus real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61488" y="386791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16936" y="3730752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de caso de éxito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61488" y="430682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16936" y="4169664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Financiación CDTI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36108" y="2377440"/>
            <a:ext cx="585216" cy="585216"/>
          </a:xfrm>
          <a:prstGeom prst="ellipse">
            <a:avLst/>
          </a:prstGeom>
          <a:solidFill>
            <a:srgbClr val="1A56DB"/>
          </a:solidFill>
          <a:ln w="25400">
            <a:solidFill>
              <a:srgbClr val="0D1F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36108" y="237744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791456" y="1508760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791456" y="1810512"/>
            <a:ext cx="1874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34356" y="2103120"/>
            <a:ext cx="1188720" cy="201168"/>
          </a:xfrm>
          <a:prstGeom prst="rect">
            <a:avLst/>
          </a:prstGeom>
          <a:solidFill>
            <a:srgbClr val="1A56DB">
              <a:alpha val="80000"/>
            </a:srgbClr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34356" y="210312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882896" y="2990088"/>
            <a:ext cx="109728" cy="109728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8344" y="2852928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CCAA integradas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882896" y="3429000"/>
            <a:ext cx="109728" cy="109728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38344" y="3291840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multi-tenant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82896" y="3867912"/>
            <a:ext cx="109728" cy="109728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38344" y="3730752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ALIA/Mistral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882896" y="4306824"/>
            <a:ext cx="109728" cy="109728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38344" y="4169664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€600K ARR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557516" y="2377440"/>
            <a:ext cx="585216" cy="585216"/>
          </a:xfrm>
          <a:prstGeom prst="ellipse">
            <a:avLst/>
          </a:prstGeom>
          <a:solidFill>
            <a:srgbClr val="06B6D4"/>
          </a:solidFill>
          <a:ln w="25400">
            <a:solidFill>
              <a:srgbClr val="0D1F3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57516" y="237744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912864" y="1508760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UE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912864" y="1810512"/>
            <a:ext cx="1874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2028+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255764" y="2103120"/>
            <a:ext cx="1188720" cy="201168"/>
          </a:xfrm>
          <a:prstGeom prst="rect">
            <a:avLst/>
          </a:prstGeom>
          <a:solidFill>
            <a:srgbClr val="06B6D4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255764" y="210312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7004304" y="2990088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59752" y="2852928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Portugal, Francia, LatAm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004304" y="3429000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59752" y="3291840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multilingüe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004304" y="3867912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59752" y="3730752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 GovTech UE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004304" y="4306824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59752" y="4169664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€2M ARR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63840" y="4846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lc-graph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2026-03-20T12:44:45Z</dcterms:created>
  <dcterms:modified xsi:type="dcterms:W3CDTF">2026-03-20T12:44:45Z</dcterms:modified>
</cp:coreProperties>
</file>